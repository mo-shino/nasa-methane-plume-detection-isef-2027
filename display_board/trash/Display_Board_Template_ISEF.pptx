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cientific Project" id="{a8b2ccff-804a-b189-5227-6e8d208a7143}">
          <p14:sldIdLst>
            <p14:sldId id="256"/>
          </p14:sldIdLst>
        </p14:section>
        <p14:section name="Engineering Project" id="{17ded008-bbae-d2b8-e0cb-7719172a5c5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6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2600" b="0" i="0" u="none" strike="noStrike">
                <a:solidFill>
                  <a:srgbClr val="333333"/>
                </a:solidFill>
                <a:latin typeface="+mn-lt"/>
              </a:rPr>
              <a:t>Sample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 A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19</c:v>
                </c:pt>
                <c:pt idx="3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 B</c:v>
                </c:pt>
              </c:strCache>
            </c:strRef>
          </c:tx>
          <c:spPr>
            <a:solidFill>
              <a:srgbClr val="0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889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2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6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2600" b="0" i="0" u="none" strike="noStrike">
                <a:solidFill>
                  <a:srgbClr val="333333"/>
                </a:solidFill>
                <a:latin typeface="+mn-lt"/>
              </a:rPr>
              <a:t>Sample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 A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19</c:v>
                </c:pt>
                <c:pt idx="3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 B</c:v>
                </c:pt>
              </c:strCache>
            </c:strRef>
          </c:tx>
          <c:spPr>
            <a:solidFill>
              <a:srgbClr val="0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889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2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_LAYOUT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2793920" cy="2926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463040" y="822960"/>
            <a:ext cx="40965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8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463040" y="822960"/>
            <a:ext cx="4096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 (Scientific Project)</a:t>
            </a:r>
            <a:endParaRPr lang="en-US" sz="8800" dirty="0"/>
          </a:p>
        </p:txBody>
      </p:sp>
      <p:sp>
        <p:nvSpPr>
          <p:cNvPr id="3" name="Left 1 box"/>
          <p:cNvSpPr/>
          <p:nvPr/>
        </p:nvSpPr>
        <p:spPr>
          <a:xfrm>
            <a:off x="548640" y="393192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4" name="Left 1 title bar"/>
          <p:cNvSpPr/>
          <p:nvPr/>
        </p:nvSpPr>
        <p:spPr>
          <a:xfrm>
            <a:off x="548640" y="393192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4400" dirty="0"/>
          </a:p>
        </p:txBody>
      </p:sp>
      <p:sp>
        <p:nvSpPr>
          <p:cNvPr id="5" name="Left 1 text"/>
          <p:cNvSpPr txBox="1"/>
          <p:nvPr/>
        </p:nvSpPr>
        <p:spPr>
          <a:xfrm>
            <a:off x="1005840" y="594360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summary of the research project, key objectives, methodology, primary findings, and conclusions here.</a:t>
            </a:r>
            <a:endParaRPr lang="en-US" sz="3200" dirty="0"/>
          </a:p>
        </p:txBody>
      </p:sp>
      <p:sp>
        <p:nvSpPr>
          <p:cNvPr id="6" name="Left 2 box"/>
          <p:cNvSpPr/>
          <p:nvPr/>
        </p:nvSpPr>
        <p:spPr>
          <a:xfrm>
            <a:off x="548640" y="1356360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7" name="Left 2 title bar"/>
          <p:cNvSpPr/>
          <p:nvPr/>
        </p:nvSpPr>
        <p:spPr>
          <a:xfrm>
            <a:off x="548640" y="1356360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8" name="Left 2 text"/>
          <p:cNvSpPr txBox="1"/>
          <p:nvPr/>
        </p:nvSpPr>
        <p:spPr>
          <a:xfrm>
            <a:off x="1005840" y="1557528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57200" indent="-457200"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the background context, problem statement, research question, and significance of the study.</a:t>
            </a:r>
            <a:endParaRPr lang="en-US" sz="3200" dirty="0"/>
          </a:p>
          <a:p>
            <a:pPr algn="l" marL="457200" indent="-457200"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theoretical frameworks and relevant background context.</a:t>
            </a:r>
            <a:endParaRPr lang="en-US" sz="3200" dirty="0"/>
          </a:p>
        </p:txBody>
      </p:sp>
      <p:sp>
        <p:nvSpPr>
          <p:cNvPr id="9" name="Left 3 box"/>
          <p:cNvSpPr/>
          <p:nvPr/>
        </p:nvSpPr>
        <p:spPr>
          <a:xfrm>
            <a:off x="548640" y="2319528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0" name="Left 3 title bar"/>
          <p:cNvSpPr/>
          <p:nvPr/>
        </p:nvSpPr>
        <p:spPr>
          <a:xfrm>
            <a:off x="548640" y="2319528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&amp; Hypothesis</a:t>
            </a:r>
            <a:endParaRPr lang="en-US" sz="4400" dirty="0"/>
          </a:p>
        </p:txBody>
      </p:sp>
      <p:sp>
        <p:nvSpPr>
          <p:cNvPr id="11" name="Left 3 text"/>
          <p:cNvSpPr txBox="1"/>
          <p:nvPr/>
        </p:nvSpPr>
        <p:spPr>
          <a:xfrm>
            <a:off x="1005840" y="2520696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57200" indent="-457200"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specific research question being investigated and formulate a clear, testable hypothesis.</a:t>
            </a:r>
            <a:endParaRPr lang="en-US" sz="3200" dirty="0"/>
          </a:p>
        </p:txBody>
      </p:sp>
      <p:sp>
        <p:nvSpPr>
          <p:cNvPr id="12" name="Right 1 box"/>
          <p:cNvSpPr/>
          <p:nvPr/>
        </p:nvSpPr>
        <p:spPr>
          <a:xfrm>
            <a:off x="32872680" y="393192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3" name="Right 1 title bar"/>
          <p:cNvSpPr/>
          <p:nvPr/>
        </p:nvSpPr>
        <p:spPr>
          <a:xfrm>
            <a:off x="32872680" y="393192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400" dirty="0"/>
          </a:p>
        </p:txBody>
      </p:sp>
      <p:sp>
        <p:nvSpPr>
          <p:cNvPr id="14" name="Right 1 text"/>
          <p:cNvSpPr txBox="1"/>
          <p:nvPr/>
        </p:nvSpPr>
        <p:spPr>
          <a:xfrm>
            <a:off x="33329880" y="594360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main conclusions drawn from the research findings.</a:t>
            </a:r>
            <a:endParaRPr lang="en-US" sz="3200" dirty="0"/>
          </a:p>
        </p:txBody>
      </p:sp>
      <p:sp>
        <p:nvSpPr>
          <p:cNvPr id="15" name="Right 2 box"/>
          <p:cNvSpPr/>
          <p:nvPr/>
        </p:nvSpPr>
        <p:spPr>
          <a:xfrm>
            <a:off x="32872680" y="1356360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6" name="Right 2 title bar"/>
          <p:cNvSpPr/>
          <p:nvPr/>
        </p:nvSpPr>
        <p:spPr>
          <a:xfrm>
            <a:off x="32872680" y="1356360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4400" dirty="0"/>
          </a:p>
        </p:txBody>
      </p:sp>
      <p:sp>
        <p:nvSpPr>
          <p:cNvPr id="17" name="Right 2 text"/>
          <p:cNvSpPr txBox="1"/>
          <p:nvPr/>
        </p:nvSpPr>
        <p:spPr>
          <a:xfrm>
            <a:off x="33329880" y="1557528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recommendations and actionable next steps based on project results.</a:t>
            </a:r>
            <a:endParaRPr lang="en-US" sz="3200" dirty="0"/>
          </a:p>
        </p:txBody>
      </p:sp>
      <p:sp>
        <p:nvSpPr>
          <p:cNvPr id="18" name="Right 3 box"/>
          <p:cNvSpPr/>
          <p:nvPr/>
        </p:nvSpPr>
        <p:spPr>
          <a:xfrm>
            <a:off x="32872680" y="2319528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9" name="Right 3 title bar"/>
          <p:cNvSpPr/>
          <p:nvPr/>
        </p:nvSpPr>
        <p:spPr>
          <a:xfrm>
            <a:off x="32872680" y="2319528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20" name="Right 3 text"/>
          <p:cNvSpPr txBox="1"/>
          <p:nvPr/>
        </p:nvSpPr>
        <p:spPr>
          <a:xfrm>
            <a:off x="33329880" y="2520696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literature, citations, and sources utilized throughout the research project (APA Style).</a:t>
            </a:r>
            <a:endParaRPr lang="en-US" sz="3200" dirty="0"/>
          </a:p>
        </p:txBody>
      </p:sp>
      <p:sp>
        <p:nvSpPr>
          <p:cNvPr id="21" name="Center top box"/>
          <p:cNvSpPr/>
          <p:nvPr/>
        </p:nvSpPr>
        <p:spPr>
          <a:xfrm>
            <a:off x="11475720" y="3931920"/>
            <a:ext cx="20939760" cy="1399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22" name="Center top title bar"/>
          <p:cNvSpPr/>
          <p:nvPr/>
        </p:nvSpPr>
        <p:spPr>
          <a:xfrm>
            <a:off x="11475720" y="3931920"/>
            <a:ext cx="20939760" cy="155448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and Materials</a:t>
            </a:r>
            <a:endParaRPr lang="en-US" sz="4400" dirty="0"/>
          </a:p>
        </p:txBody>
      </p:sp>
      <p:sp>
        <p:nvSpPr>
          <p:cNvPr id="23" name="Center top subheader 1"/>
          <p:cNvSpPr/>
          <p:nvPr/>
        </p:nvSpPr>
        <p:spPr>
          <a:xfrm>
            <a:off x="11932920" y="5943600"/>
            <a:ext cx="9738360" cy="1188720"/>
          </a:xfrm>
          <a:prstGeom prst="rect">
            <a:avLst/>
          </a:prstGeom>
          <a:solidFill>
            <a:srgbClr val="E3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Materials</a:t>
            </a:r>
            <a:endParaRPr lang="en-US" sz="3600" dirty="0"/>
          </a:p>
        </p:txBody>
      </p:sp>
      <p:sp>
        <p:nvSpPr>
          <p:cNvPr id="24" name="Center top text 1"/>
          <p:cNvSpPr txBox="1"/>
          <p:nvPr/>
        </p:nvSpPr>
        <p:spPr>
          <a:xfrm>
            <a:off x="11932920" y="7589520"/>
            <a:ext cx="9738360" cy="978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experimental procedures, materials used, data collection techniques, and analytical software/methods applied.</a:t>
            </a:r>
            <a:endParaRPr lang="en-US" sz="3200" dirty="0"/>
          </a:p>
        </p:txBody>
      </p:sp>
      <p:sp>
        <p:nvSpPr>
          <p:cNvPr id="25" name="Center top subheader 2"/>
          <p:cNvSpPr/>
          <p:nvPr/>
        </p:nvSpPr>
        <p:spPr>
          <a:xfrm>
            <a:off x="22219920" y="5943600"/>
            <a:ext cx="9738360" cy="1188720"/>
          </a:xfrm>
          <a:prstGeom prst="rect">
            <a:avLst/>
          </a:prstGeom>
          <a:solidFill>
            <a:srgbClr val="E3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Procedure</a:t>
            </a:r>
            <a:endParaRPr lang="en-US" sz="3600" dirty="0"/>
          </a:p>
        </p:txBody>
      </p:sp>
      <p:sp>
        <p:nvSpPr>
          <p:cNvPr id="26" name="Center top text 2"/>
          <p:cNvSpPr txBox="1"/>
          <p:nvPr/>
        </p:nvSpPr>
        <p:spPr>
          <a:xfrm>
            <a:off x="22219920" y="7589520"/>
            <a:ext cx="9738360" cy="978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step-by-step experimental instructions, controls, variable testing, and data recording methods.</a:t>
            </a:r>
            <a:endParaRPr lang="en-US" sz="3200" dirty="0"/>
          </a:p>
        </p:txBody>
      </p:sp>
      <p:sp>
        <p:nvSpPr>
          <p:cNvPr id="27" name="Center bottom box"/>
          <p:cNvSpPr/>
          <p:nvPr/>
        </p:nvSpPr>
        <p:spPr>
          <a:xfrm>
            <a:off x="11475720" y="18379440"/>
            <a:ext cx="20939760" cy="1399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28" name="Center bottom title bar"/>
          <p:cNvSpPr/>
          <p:nvPr/>
        </p:nvSpPr>
        <p:spPr>
          <a:xfrm>
            <a:off x="11475720" y="18379440"/>
            <a:ext cx="20939760" cy="155448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Data analysis</a:t>
            </a:r>
            <a:endParaRPr lang="en-US" sz="4400" dirty="0"/>
          </a:p>
        </p:txBody>
      </p:sp>
      <p:sp>
        <p:nvSpPr>
          <p:cNvPr id="29" name="Results intro"/>
          <p:cNvSpPr txBox="1"/>
          <p:nvPr/>
        </p:nvSpPr>
        <p:spPr>
          <a:xfrm>
            <a:off x="11932920" y="20208240"/>
            <a:ext cx="2002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analytical insights and quantitative findings resulting from tests and experiments.</a:t>
            </a:r>
            <a:endParaRPr lang="en-US" sz="3200" dirty="0"/>
          </a:p>
        </p:txBody>
      </p:sp>
      <p:graphicFrame>
        <p:nvGraphicFramePr>
          <p:cNvPr id="2" name="Sample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932920" y="21762720"/>
          <a:ext cx="9784080" cy="914400"/>
        </p:xfrm>
        <a:graphic>
          <a:graphicData uri="http://schemas.openxmlformats.org/drawingml/2006/table">
            <a:tbl>
              <a:tblPr/>
              <a:tblGrid>
                <a:gridCol w="3033065"/>
                <a:gridCol w="2250338"/>
                <a:gridCol w="2250338"/>
                <a:gridCol w="2250338"/>
              </a:tblGrid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B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Sample bar chart" descr=""/>
          <p:cNvGraphicFramePr/>
          <p:nvPr/>
        </p:nvGraphicFramePr>
        <p:xfrm>
          <a:off x="22174200" y="21762720"/>
          <a:ext cx="9784080" cy="7772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Credit line"/>
          <p:cNvSpPr/>
          <p:nvPr/>
        </p:nvSpPr>
        <p:spPr>
          <a:xfrm>
            <a:off x="11932920" y="30998160"/>
            <a:ext cx="20025360" cy="822960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tables, graphs, and images were created by the researcher(s) unless otherwise noted.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463040" y="822960"/>
            <a:ext cx="4096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 (Engineering Project)</a:t>
            </a:r>
            <a:endParaRPr lang="en-US" sz="8800" dirty="0"/>
          </a:p>
        </p:txBody>
      </p:sp>
      <p:sp>
        <p:nvSpPr>
          <p:cNvPr id="3" name="Left 1 box"/>
          <p:cNvSpPr/>
          <p:nvPr/>
        </p:nvSpPr>
        <p:spPr>
          <a:xfrm>
            <a:off x="548640" y="393192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4" name="Left 1 title bar"/>
          <p:cNvSpPr/>
          <p:nvPr/>
        </p:nvSpPr>
        <p:spPr>
          <a:xfrm>
            <a:off x="548640" y="393192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4400" dirty="0"/>
          </a:p>
        </p:txBody>
      </p:sp>
      <p:sp>
        <p:nvSpPr>
          <p:cNvPr id="5" name="Left 1 text"/>
          <p:cNvSpPr txBox="1"/>
          <p:nvPr/>
        </p:nvSpPr>
        <p:spPr>
          <a:xfrm>
            <a:off x="1005840" y="594360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summary of the engineering project, design objectives, methodology, prototype testing results, and conclusions here.</a:t>
            </a:r>
            <a:endParaRPr lang="en-US" sz="3200" dirty="0"/>
          </a:p>
        </p:txBody>
      </p:sp>
      <p:sp>
        <p:nvSpPr>
          <p:cNvPr id="6" name="Left 2 box"/>
          <p:cNvSpPr/>
          <p:nvPr/>
        </p:nvSpPr>
        <p:spPr>
          <a:xfrm>
            <a:off x="548640" y="1356360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7" name="Left 2 title bar"/>
          <p:cNvSpPr/>
          <p:nvPr/>
        </p:nvSpPr>
        <p:spPr>
          <a:xfrm>
            <a:off x="548640" y="1356360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8" name="Left 2 text"/>
          <p:cNvSpPr txBox="1"/>
          <p:nvPr/>
        </p:nvSpPr>
        <p:spPr>
          <a:xfrm>
            <a:off x="1005840" y="1557528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57200" indent="-457200"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the background context, existing solutions, and the practical significance of the project.</a:t>
            </a:r>
            <a:endParaRPr lang="en-US" sz="3200" dirty="0"/>
          </a:p>
          <a:p>
            <a:pPr algn="l" marL="457200" indent="-457200"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theoretical frameworks and relevant background context.</a:t>
            </a:r>
            <a:endParaRPr lang="en-US" sz="3200" dirty="0"/>
          </a:p>
        </p:txBody>
      </p:sp>
      <p:sp>
        <p:nvSpPr>
          <p:cNvPr id="9" name="Left 3 box"/>
          <p:cNvSpPr/>
          <p:nvPr/>
        </p:nvSpPr>
        <p:spPr>
          <a:xfrm>
            <a:off x="548640" y="2319528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0" name="Left 3 title bar"/>
          <p:cNvSpPr/>
          <p:nvPr/>
        </p:nvSpPr>
        <p:spPr>
          <a:xfrm>
            <a:off x="548640" y="2319528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Engineering Goals</a:t>
            </a:r>
            <a:endParaRPr lang="en-US" sz="4400" dirty="0"/>
          </a:p>
        </p:txBody>
      </p:sp>
      <p:sp>
        <p:nvSpPr>
          <p:cNvPr id="11" name="Left 3 text"/>
          <p:cNvSpPr txBox="1"/>
          <p:nvPr/>
        </p:nvSpPr>
        <p:spPr>
          <a:xfrm>
            <a:off x="1005840" y="2520696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57200" indent="-457200">
              <a:spcAft>
                <a:spcPts val="1800"/>
              </a:spcAft>
              <a:buSzPct val="100000"/>
              <a:buChar char="•"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specific problem or need being addressed and state the measurable engineering goals.</a:t>
            </a:r>
            <a:endParaRPr lang="en-US" sz="3200" dirty="0"/>
          </a:p>
        </p:txBody>
      </p:sp>
      <p:sp>
        <p:nvSpPr>
          <p:cNvPr id="12" name="Right 1 box"/>
          <p:cNvSpPr/>
          <p:nvPr/>
        </p:nvSpPr>
        <p:spPr>
          <a:xfrm>
            <a:off x="32872680" y="393192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3" name="Right 1 title bar"/>
          <p:cNvSpPr/>
          <p:nvPr/>
        </p:nvSpPr>
        <p:spPr>
          <a:xfrm>
            <a:off x="32872680" y="393192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400" dirty="0"/>
          </a:p>
        </p:txBody>
      </p:sp>
      <p:sp>
        <p:nvSpPr>
          <p:cNvPr id="14" name="Right 1 text"/>
          <p:cNvSpPr txBox="1"/>
          <p:nvPr/>
        </p:nvSpPr>
        <p:spPr>
          <a:xfrm>
            <a:off x="33329880" y="594360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main conclusions and practical applications of the engineered prototype.</a:t>
            </a:r>
            <a:endParaRPr lang="en-US" sz="3200" dirty="0"/>
          </a:p>
        </p:txBody>
      </p:sp>
      <p:sp>
        <p:nvSpPr>
          <p:cNvPr id="15" name="Right 2 box"/>
          <p:cNvSpPr/>
          <p:nvPr/>
        </p:nvSpPr>
        <p:spPr>
          <a:xfrm>
            <a:off x="32872680" y="1356360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6" name="Right 2 title bar"/>
          <p:cNvSpPr/>
          <p:nvPr/>
        </p:nvSpPr>
        <p:spPr>
          <a:xfrm>
            <a:off x="32872680" y="1356360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4400" dirty="0"/>
          </a:p>
        </p:txBody>
      </p:sp>
      <p:sp>
        <p:nvSpPr>
          <p:cNvPr id="17" name="Right 2 text"/>
          <p:cNvSpPr txBox="1"/>
          <p:nvPr/>
        </p:nvSpPr>
        <p:spPr>
          <a:xfrm>
            <a:off x="33329880" y="1557528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recommendations, scalability plans, and future hardware/software upgrades.</a:t>
            </a:r>
            <a:endParaRPr lang="en-US" sz="3200" dirty="0"/>
          </a:p>
        </p:txBody>
      </p:sp>
      <p:sp>
        <p:nvSpPr>
          <p:cNvPr id="18" name="Right 3 box"/>
          <p:cNvSpPr/>
          <p:nvPr/>
        </p:nvSpPr>
        <p:spPr>
          <a:xfrm>
            <a:off x="32872680" y="23195280"/>
            <a:ext cx="10469880" cy="917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9" name="Right 3 title bar"/>
          <p:cNvSpPr/>
          <p:nvPr/>
        </p:nvSpPr>
        <p:spPr>
          <a:xfrm>
            <a:off x="32872680" y="23195280"/>
            <a:ext cx="10469880" cy="15544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20" name="Right 3 text"/>
          <p:cNvSpPr txBox="1"/>
          <p:nvPr/>
        </p:nvSpPr>
        <p:spPr>
          <a:xfrm>
            <a:off x="33329880" y="25206960"/>
            <a:ext cx="955548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literature, citations, and sources utilized throughout the engineering project (APA Style).</a:t>
            </a:r>
            <a:endParaRPr lang="en-US" sz="3200" dirty="0"/>
          </a:p>
        </p:txBody>
      </p:sp>
      <p:sp>
        <p:nvSpPr>
          <p:cNvPr id="21" name="Center top box"/>
          <p:cNvSpPr/>
          <p:nvPr/>
        </p:nvSpPr>
        <p:spPr>
          <a:xfrm>
            <a:off x="11475720" y="3931920"/>
            <a:ext cx="20939760" cy="1399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22" name="Center top title bar"/>
          <p:cNvSpPr/>
          <p:nvPr/>
        </p:nvSpPr>
        <p:spPr>
          <a:xfrm>
            <a:off x="11475720" y="3931920"/>
            <a:ext cx="20939760" cy="155448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Methodology</a:t>
            </a:r>
            <a:endParaRPr lang="en-US" sz="4400" dirty="0"/>
          </a:p>
        </p:txBody>
      </p:sp>
      <p:sp>
        <p:nvSpPr>
          <p:cNvPr id="23" name="Center top subheader 1"/>
          <p:cNvSpPr/>
          <p:nvPr/>
        </p:nvSpPr>
        <p:spPr>
          <a:xfrm>
            <a:off x="11932920" y="5943600"/>
            <a:ext cx="9738360" cy="1188720"/>
          </a:xfrm>
          <a:prstGeom prst="rect">
            <a:avLst/>
          </a:prstGeom>
          <a:solidFill>
            <a:srgbClr val="E3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Criteria &amp; Architecture</a:t>
            </a:r>
            <a:endParaRPr lang="en-US" sz="3600" dirty="0"/>
          </a:p>
        </p:txBody>
      </p:sp>
      <p:sp>
        <p:nvSpPr>
          <p:cNvPr id="24" name="Center top text 1"/>
          <p:cNvSpPr txBox="1"/>
          <p:nvPr/>
        </p:nvSpPr>
        <p:spPr>
          <a:xfrm>
            <a:off x="11932920" y="7589520"/>
            <a:ext cx="9738360" cy="978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the design requirements, constraints, system architecture, and hardware/software specifications.</a:t>
            </a:r>
            <a:endParaRPr lang="en-US" sz="3200" dirty="0"/>
          </a:p>
        </p:txBody>
      </p:sp>
      <p:sp>
        <p:nvSpPr>
          <p:cNvPr id="25" name="Center top subheader 2"/>
          <p:cNvSpPr/>
          <p:nvPr/>
        </p:nvSpPr>
        <p:spPr>
          <a:xfrm>
            <a:off x="22219920" y="5943600"/>
            <a:ext cx="9738360" cy="1188720"/>
          </a:xfrm>
          <a:prstGeom prst="rect">
            <a:avLst/>
          </a:prstGeom>
          <a:solidFill>
            <a:srgbClr val="E3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&amp; Implementation</a:t>
            </a:r>
            <a:endParaRPr lang="en-US" sz="3600" dirty="0"/>
          </a:p>
        </p:txBody>
      </p:sp>
      <p:sp>
        <p:nvSpPr>
          <p:cNvPr id="26" name="Center top text 2"/>
          <p:cNvSpPr txBox="1"/>
          <p:nvPr/>
        </p:nvSpPr>
        <p:spPr>
          <a:xfrm>
            <a:off x="22219920" y="7589520"/>
            <a:ext cx="9738360" cy="978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assembly processes, schematic designs, hardware integration, and build verification.</a:t>
            </a:r>
            <a:endParaRPr lang="en-US" sz="3200" dirty="0"/>
          </a:p>
        </p:txBody>
      </p:sp>
      <p:sp>
        <p:nvSpPr>
          <p:cNvPr id="27" name="Center bottom box"/>
          <p:cNvSpPr/>
          <p:nvPr/>
        </p:nvSpPr>
        <p:spPr>
          <a:xfrm>
            <a:off x="11475720" y="18379440"/>
            <a:ext cx="20939760" cy="1399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28" name="Center bottom title bar"/>
          <p:cNvSpPr/>
          <p:nvPr/>
        </p:nvSpPr>
        <p:spPr>
          <a:xfrm>
            <a:off x="11475720" y="18379440"/>
            <a:ext cx="20939760" cy="155448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Results &amp; Data Analysis</a:t>
            </a:r>
            <a:endParaRPr lang="en-US" sz="4400" dirty="0"/>
          </a:p>
        </p:txBody>
      </p:sp>
      <p:sp>
        <p:nvSpPr>
          <p:cNvPr id="29" name="Results intro"/>
          <p:cNvSpPr txBox="1"/>
          <p:nvPr/>
        </p:nvSpPr>
        <p:spPr>
          <a:xfrm>
            <a:off x="11932920" y="20208240"/>
            <a:ext cx="2002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prototype performance metrics, testing data, and evaluation against engineering goals.</a:t>
            </a:r>
            <a:endParaRPr lang="en-US" sz="3200" dirty="0"/>
          </a:p>
        </p:txBody>
      </p:sp>
      <p:graphicFrame>
        <p:nvGraphicFramePr>
          <p:cNvPr id="3" name="Sample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932920" y="21762720"/>
          <a:ext cx="9784080" cy="914400"/>
        </p:xfrm>
        <a:graphic>
          <a:graphicData uri="http://schemas.openxmlformats.org/drawingml/2006/table">
            <a:tbl>
              <a:tblPr/>
              <a:tblGrid>
                <a:gridCol w="3033065"/>
                <a:gridCol w="2250338"/>
                <a:gridCol w="2250338"/>
                <a:gridCol w="2250338"/>
              </a:tblGrid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B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Sample bar chart" descr=""/>
          <p:cNvGraphicFramePr/>
          <p:nvPr/>
        </p:nvGraphicFramePr>
        <p:xfrm>
          <a:off x="22174200" y="21762720"/>
          <a:ext cx="9784080" cy="7772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Credit line"/>
          <p:cNvSpPr/>
          <p:nvPr/>
        </p:nvSpPr>
        <p:spPr>
          <a:xfrm>
            <a:off x="11932920" y="30998160"/>
            <a:ext cx="20025360" cy="822960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tables, graphs, and images were created by the researcher(s) unless otherwise noted.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Poster">
  <a:themeElements>
    <a:clrScheme name="Academic Poster">
      <a:dk1>
        <a:srgbClr val="333333"/>
      </a:dk1>
      <a:lt1>
        <a:srgbClr val="FFFFFF"/>
      </a:lt1>
      <a:dk2>
        <a:srgbClr val="1B365D"/>
      </a:dk2>
      <a:lt2>
        <a:srgbClr val="F4F6F9"/>
      </a:lt2>
      <a:accent1>
        <a:srgbClr val="1B365D"/>
      </a:accent1>
      <a:accent2>
        <a:srgbClr val="008080"/>
      </a:accent2>
      <a:accent3>
        <a:srgbClr val="5B7FA6"/>
      </a:accent3>
      <a:accent4>
        <a:srgbClr val="2FA4A4"/>
      </a:accent4>
      <a:accent5>
        <a:srgbClr val="C9A227"/>
      </a:accent5>
      <a:accent6>
        <a:srgbClr val="8896AB"/>
      </a:accent6>
      <a:hlink>
        <a:srgbClr val="008080"/>
      </a:hlink>
      <a:folHlink>
        <a:srgbClr val="1B365D"/>
      </a:folHlink>
    </a:clrScheme>
    <a:fontScheme name="Academic Pos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Trifold Science Fair Display Board Template</dc:title>
  <dc:subject>PptxGenJS Presentation</dc:subject>
  <dc:creator>PptxGenJS</dc:creator>
  <cp:lastModifiedBy>PptxGenJS</cp:lastModifiedBy>
  <cp:revision>1</cp:revision>
  <dcterms:created xsi:type="dcterms:W3CDTF">2026-10-21T05:38:43Z</dcterms:created>
  <dcterms:modified xsi:type="dcterms:W3CDTF">2026-10-21T05:38:43Z</dcterms:modified>
</cp:coreProperties>
</file>